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6" r:id="rId11"/>
    <p:sldId id="265" r:id="rId12"/>
    <p:sldId id="264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9417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6AE0"/>
          </a:solidFill>
          <a:ln w="12700">
            <a:solidFill>
              <a:srgbClr val="2D6A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2D6AE0">
              <a:alpha val="15000"/>
            </a:srgbClr>
          </a:solidFill>
          <a:ln w="12700">
            <a:solidFill>
              <a:srgbClr val="2D6AE0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2286000"/>
            <a:ext cx="2743200" cy="2743200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1463040" cy="384048"/>
          </a:xfrm>
          <a:prstGeom prst="roundRect">
            <a:avLst>
              <a:gd name="adj" fmla="val 23810"/>
            </a:avLst>
          </a:prstGeom>
          <a:solidFill>
            <a:srgbClr val="2D6AE0"/>
          </a:solidFill>
          <a:ln w="12700">
            <a:solidFill>
              <a:srgbClr val="2D6A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🐍 PYTHON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Learning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-1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A8D4"/>
                </a:solidFill>
              </a:rPr>
              <a:t>Covering Data Types · Control Flow · Loops · Lists · Pandas &amp; Visualization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</a:rPr>
              <a:t>Harsh  |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1097280" cy="50292"/>
          </a:xfrm>
          <a:prstGeom prst="rect">
            <a:avLst/>
          </a:prstGeom>
          <a:solidFill>
            <a:srgbClr val="2D6AE0"/>
          </a:solidFill>
          <a:ln w="12700">
            <a:solidFill>
              <a:srgbClr val="2D6A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64008" cy="1417320"/>
          </a:xfrm>
          <a:prstGeom prst="rect">
            <a:avLst/>
          </a:prstGeom>
          <a:solidFill>
            <a:srgbClr val="2D6AE0"/>
          </a:solidFill>
          <a:ln w="12700">
            <a:solidFill>
              <a:srgbClr val="2D6A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7043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6AE0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1572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5E"/>
                </a:solidFill>
              </a:rPr>
              <a:t>Data Types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</a:rPr>
              <a:t>int, str, float, complex — type identification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7560" y="109728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097280"/>
            <a:ext cx="64008" cy="1417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17043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74720" y="1572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5E"/>
                </a:solidFill>
              </a:rPr>
              <a:t>Conditionals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1920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</a:rPr>
              <a:t>if / elif / else — Calculator, Grades, Discount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109728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97280"/>
            <a:ext cx="64008" cy="14173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17043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CB"/>
                </a:solidFill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55080" y="1572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5E"/>
                </a:solidFill>
              </a:rPr>
              <a:t>While Loops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1920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</a:rPr>
              <a:t>Counters, tables, patterns &amp; sum problems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74320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743200"/>
            <a:ext cx="64008" cy="1417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8163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C55E"/>
                </a:solidFill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94360" y="32186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5E"/>
                </a:solidFill>
              </a:rPr>
              <a:t>For Loops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566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</a:rPr>
              <a:t>range(), continue, break, dict/list iteration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37560" y="274320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2743200"/>
            <a:ext cx="64008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8163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474720" y="32186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5E"/>
                </a:solidFill>
              </a:rPr>
              <a:t>Lists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74720" y="3566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</a:rPr>
              <a:t>insert, pop, remove, sort, min, max, sum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17920" y="274320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2743200"/>
            <a:ext cx="64008" cy="14173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28163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53E3E"/>
                </a:solidFill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355080" y="32186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5E"/>
                </a:solidFill>
              </a:rPr>
              <a:t>Pandas &amp; Viz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55080" y="3566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</a:rPr>
              <a:t>Life Expectancy dataset + Seaborn charts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Data Types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C2CB"/>
                </a:solidFill>
              </a:rPr>
              <a:t>Identifying Python's core data types using type()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2D6A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070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5E"/>
                </a:solidFill>
              </a:rPr>
              <a:t>🎯  PROBLEM:  Identify the type of different Python variables and print them.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3931920" cy="2148840"/>
          </a:xfrm>
          <a:prstGeom prst="rect">
            <a:avLst/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20240"/>
            <a:ext cx="36576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D6AE0"/>
                </a:solidFill>
              </a:rPr>
              <a:t>a = 2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'dd'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1.2</a:t>
            </a:r>
            <a:endParaRPr lang="en-US" sz="1300" dirty="0"/>
          </a:p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</a:rPr>
              <a:t>d = </a:t>
            </a:r>
            <a:r>
              <a:rPr lang="en-US" sz="1200" b="1" dirty="0">
                <a:solidFill>
                  <a:srgbClr val="8B5CF6"/>
                </a:solidFill>
              </a:rPr>
              <a:t>3</a:t>
            </a:r>
            <a:r>
              <a:rPr lang="en-US" sz="1400" b="1" dirty="0">
                <a:solidFill>
                  <a:srgbClr val="8B5CF6"/>
                </a:solidFill>
              </a:rPr>
              <a:t>+</a:t>
            </a:r>
            <a:r>
              <a:rPr lang="en-US" sz="1200" b="1" dirty="0">
                <a:solidFill>
                  <a:srgbClr val="8B5CF6"/>
                </a:solidFill>
              </a:rPr>
              <a:t>3</a:t>
            </a:r>
            <a:r>
              <a:rPr lang="en-US" sz="1400" b="1" dirty="0">
                <a:solidFill>
                  <a:srgbClr val="8B5CF6"/>
                </a:solidFill>
              </a:rPr>
              <a:t>j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B3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print(type(a))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B3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print(type(b))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B3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print(type(c))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B3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print(type(d))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1828800"/>
            <a:ext cx="4297680" cy="4572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828800"/>
            <a:ext cx="54864" cy="457200"/>
          </a:xfrm>
          <a:prstGeom prst="rect">
            <a:avLst/>
          </a:prstGeom>
          <a:solidFill>
            <a:srgbClr val="2D6AE0"/>
          </a:solidFill>
          <a:ln w="12700">
            <a:solidFill>
              <a:srgbClr val="2D6A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E0"/>
                </a:solidFill>
              </a:rPr>
              <a:t>Integer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204825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'int'&gt;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80560" y="2359152"/>
            <a:ext cx="4297680" cy="4572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2359152"/>
            <a:ext cx="54864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3957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</a:rPr>
              <a:t>String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257860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'str'&gt;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80560" y="2889504"/>
            <a:ext cx="4297680" cy="4572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0560" y="2889504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9260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Float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31089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'float'&gt;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80560" y="3419856"/>
            <a:ext cx="4297680" cy="4572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3419856"/>
            <a:ext cx="54864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4564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</a:rPr>
              <a:t>Complex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363931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'complex'&gt;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160520"/>
            <a:ext cx="8412480" cy="658368"/>
          </a:xfrm>
          <a:prstGeom prst="rect">
            <a:avLst/>
          </a:prstGeom>
          <a:solidFill>
            <a:srgbClr val="ECFDF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2062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F46"/>
                </a:solidFill>
              </a:rPr>
              <a:t>💡  Key Insight:  Python is dynamically typed — variables don't need explicit type declarations. The type() function reveals the underlying data type at runtime.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Conditional Statements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8B4FE"/>
                </a:solidFill>
              </a:rPr>
              <a:t>if / elif / else — real-world decision-making programs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60520" cy="4000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4160520" cy="347472"/>
          </a:xfrm>
          <a:prstGeom prst="rect">
            <a:avLst/>
          </a:prstGeom>
          <a:solidFill>
            <a:srgbClr val="2D6AE0"/>
          </a:solidFill>
          <a:ln w="12700">
            <a:solidFill>
              <a:srgbClr val="2D6A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795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🧮 Simple Calculator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545336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Accepts two numbers and an operator (+, -, /, *). Performs the operation and prints the result type.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" y="2050869"/>
            <a:ext cx="3931920" cy="3010987"/>
          </a:xfrm>
          <a:prstGeom prst="rect">
            <a:avLst/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393192" y="2050869"/>
            <a:ext cx="3886200" cy="301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num1=int(input('enter first number’))</a:t>
            </a:r>
          </a:p>
          <a:p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num2=int(input('enter </a:t>
            </a:r>
            <a:r>
              <a:rPr lang="en-US" sz="900" dirty="0" err="1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secoend</a:t>
            </a: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number’))</a:t>
            </a:r>
          </a:p>
          <a:p>
            <a:r>
              <a:rPr lang="en-US" sz="900" dirty="0" err="1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opreter</a:t>
            </a: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=input('+,-,%,*’)</a:t>
            </a:r>
          </a:p>
          <a:p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900" dirty="0" err="1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opreter</a:t>
            </a: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=='+':    </a:t>
            </a:r>
          </a:p>
          <a:p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print('sum of numbers',num1+num2)   </a:t>
            </a:r>
          </a:p>
          <a:p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print(type(num1+num2))</a:t>
            </a:r>
          </a:p>
          <a:p>
            <a:r>
              <a:rPr lang="en-US" sz="900" dirty="0" err="1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 err="1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opreter</a:t>
            </a: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=='-':   </a:t>
            </a:r>
          </a:p>
          <a:p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print('minus of numbers',num1-num2)  </a:t>
            </a:r>
          </a:p>
          <a:p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print(type(num1-num2))</a:t>
            </a:r>
          </a:p>
          <a:p>
            <a:r>
              <a:rPr lang="en-US" sz="900" dirty="0" err="1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 err="1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opreter</a:t>
            </a: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=='/':   </a:t>
            </a:r>
          </a:p>
          <a:p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num2!=0:      </a:t>
            </a:r>
          </a:p>
          <a:p>
            <a:pPr lvl="1"/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print('division of numbers',num1/num2)        print(type(num1/num2))</a:t>
            </a:r>
          </a:p>
          <a:p>
            <a:r>
              <a:rPr lang="en-US" sz="900" dirty="0" err="1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 err="1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opreter</a:t>
            </a: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=='*':   </a:t>
            </a:r>
          </a:p>
          <a:p>
            <a:pPr lvl="1"/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print('multiplication of number',num1*num2) print(type(num1*num2))</a:t>
            </a:r>
          </a:p>
          <a:p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   </a:t>
            </a:r>
          </a:p>
          <a:p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print('non')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18888" y="1545336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73752" y="2185416"/>
            <a:ext cx="38404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18888" y="1234440"/>
            <a:ext cx="4160520" cy="39090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8" name="Shape 16"/>
          <p:cNvSpPr/>
          <p:nvPr/>
        </p:nvSpPr>
        <p:spPr>
          <a:xfrm>
            <a:off x="4818888" y="1207008"/>
            <a:ext cx="41605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r>
              <a:rPr lang="en-US" sz="1200" b="1" dirty="0">
                <a:solidFill>
                  <a:srgbClr val="FFFFFF"/>
                </a:solidFill>
              </a:rPr>
              <a:t>🎓 Marks &amp; Grade System</a:t>
            </a:r>
            <a:endParaRPr lang="en-US" sz="1200" dirty="0"/>
          </a:p>
          <a:p>
            <a:endParaRPr lang="en-IN" dirty="0"/>
          </a:p>
        </p:txBody>
      </p:sp>
      <p:sp>
        <p:nvSpPr>
          <p:cNvPr id="20" name="Text 18"/>
          <p:cNvSpPr/>
          <p:nvPr/>
        </p:nvSpPr>
        <p:spPr>
          <a:xfrm>
            <a:off x="384048" y="3465576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18888" y="3465576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73752" y="4105656"/>
            <a:ext cx="38404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469D448-9737-108E-1C25-E751CC829BE1}"/>
              </a:ext>
            </a:extLst>
          </p:cNvPr>
          <p:cNvSpPr txBox="1"/>
          <p:nvPr/>
        </p:nvSpPr>
        <p:spPr>
          <a:xfrm>
            <a:off x="4773168" y="1608892"/>
            <a:ext cx="39319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892A4"/>
                </a:solidFill>
              </a:rPr>
              <a:t>Takes 5 subject marks. Calculates Total, Percentage, and Average, then assigns Grade A/B/C/Fail.</a:t>
            </a:r>
            <a:endParaRPr lang="en-US" sz="1000" dirty="0"/>
          </a:p>
          <a:p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7EEEB59-75BC-72C3-219F-1D8329EE39FB}"/>
              </a:ext>
            </a:extLst>
          </p:cNvPr>
          <p:cNvSpPr/>
          <p:nvPr/>
        </p:nvSpPr>
        <p:spPr>
          <a:xfrm>
            <a:off x="4818888" y="2050869"/>
            <a:ext cx="4133088" cy="2909751"/>
          </a:xfrm>
          <a:prstGeom prst="rect">
            <a:avLst/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  <p:txBody>
          <a:bodyPr/>
          <a:lstStyle/>
          <a:p>
            <a:r>
              <a:rPr lang="en-IN" sz="800" dirty="0">
                <a:solidFill>
                  <a:srgbClr val="00C2CB"/>
                </a:solidFill>
                <a:latin typeface="Consolas" pitchFamily="34" charset="0"/>
              </a:rPr>
              <a:t>M</a:t>
            </a:r>
            <a:r>
              <a:rPr lang="en-IN" sz="900" dirty="0">
                <a:solidFill>
                  <a:srgbClr val="00C2CB"/>
                </a:solidFill>
                <a:latin typeface="Consolas" pitchFamily="34" charset="0"/>
              </a:rPr>
              <a:t>athematics=float(input('enter the Mathematics number')) Science=float(input('enter the Science number')) English=float(input('enter the English’))</a:t>
            </a:r>
          </a:p>
          <a:p>
            <a:r>
              <a:rPr lang="en-IN" sz="900" dirty="0">
                <a:solidFill>
                  <a:srgbClr val="00C2CB"/>
                </a:solidFill>
                <a:latin typeface="Consolas" pitchFamily="34" charset="0"/>
              </a:rPr>
              <a:t>Economics=float(input('enter the Economics number')) Hindi=float(input('enter the Hindi number')) </a:t>
            </a:r>
            <a:r>
              <a:rPr lang="en-IN" sz="900" dirty="0" err="1">
                <a:solidFill>
                  <a:srgbClr val="00C2CB"/>
                </a:solidFill>
                <a:latin typeface="Consolas" pitchFamily="34" charset="0"/>
              </a:rPr>
              <a:t>total_marks</a:t>
            </a:r>
            <a:r>
              <a:rPr lang="en-IN" sz="900" dirty="0">
                <a:solidFill>
                  <a:srgbClr val="00C2CB"/>
                </a:solidFill>
                <a:latin typeface="Consolas" pitchFamily="34" charset="0"/>
              </a:rPr>
              <a:t>=</a:t>
            </a:r>
            <a:r>
              <a:rPr lang="en-IN" sz="900" dirty="0" err="1">
                <a:solidFill>
                  <a:srgbClr val="00C2CB"/>
                </a:solidFill>
                <a:latin typeface="Consolas" pitchFamily="34" charset="0"/>
              </a:rPr>
              <a:t>Mathematics+Science+English+Economics+Hindi</a:t>
            </a:r>
            <a:endParaRPr lang="en-IN" sz="900" dirty="0">
              <a:solidFill>
                <a:srgbClr val="00C2CB"/>
              </a:solidFill>
              <a:latin typeface="Consolas" pitchFamily="34" charset="0"/>
            </a:endParaRPr>
          </a:p>
          <a:p>
            <a:r>
              <a:rPr lang="en-IN" sz="900" dirty="0">
                <a:solidFill>
                  <a:srgbClr val="00C2CB"/>
                </a:solidFill>
                <a:latin typeface="Consolas" pitchFamily="34" charset="0"/>
              </a:rPr>
              <a:t>Percentage=(</a:t>
            </a:r>
            <a:r>
              <a:rPr lang="en-IN" sz="900" dirty="0" err="1">
                <a:solidFill>
                  <a:srgbClr val="00C2CB"/>
                </a:solidFill>
                <a:latin typeface="Consolas" pitchFamily="34" charset="0"/>
              </a:rPr>
              <a:t>total_marks</a:t>
            </a:r>
            <a:r>
              <a:rPr lang="en-IN" sz="900" dirty="0">
                <a:solidFill>
                  <a:srgbClr val="00C2CB"/>
                </a:solidFill>
                <a:latin typeface="Consolas" pitchFamily="34" charset="0"/>
              </a:rPr>
              <a:t>/500)*100</a:t>
            </a:r>
          </a:p>
          <a:p>
            <a:r>
              <a:rPr lang="en-IN" sz="900" dirty="0" err="1">
                <a:solidFill>
                  <a:srgbClr val="00C2CB"/>
                </a:solidFill>
                <a:latin typeface="Consolas" pitchFamily="34" charset="0"/>
              </a:rPr>
              <a:t>Average_marks</a:t>
            </a:r>
            <a:r>
              <a:rPr lang="en-IN" sz="900" dirty="0">
                <a:solidFill>
                  <a:srgbClr val="00C2CB"/>
                </a:solidFill>
                <a:latin typeface="Consolas" pitchFamily="34" charset="0"/>
              </a:rPr>
              <a:t>=(</a:t>
            </a:r>
            <a:r>
              <a:rPr lang="en-IN" sz="900" dirty="0" err="1">
                <a:solidFill>
                  <a:srgbClr val="00C2CB"/>
                </a:solidFill>
                <a:latin typeface="Consolas" pitchFamily="34" charset="0"/>
              </a:rPr>
              <a:t>total_marks</a:t>
            </a:r>
            <a:r>
              <a:rPr lang="en-IN" sz="900" dirty="0">
                <a:solidFill>
                  <a:srgbClr val="00C2CB"/>
                </a:solidFill>
                <a:latin typeface="Consolas" pitchFamily="34" charset="0"/>
              </a:rPr>
              <a:t>)/5</a:t>
            </a:r>
          </a:p>
          <a:p>
            <a:r>
              <a:rPr lang="en-IN" sz="900" dirty="0">
                <a:solidFill>
                  <a:srgbClr val="00C2CB"/>
                </a:solidFill>
                <a:latin typeface="Consolas" pitchFamily="34" charset="0"/>
              </a:rPr>
              <a:t>print('Total marks obtained',</a:t>
            </a:r>
            <a:r>
              <a:rPr lang="en-IN" sz="900" dirty="0" err="1">
                <a:solidFill>
                  <a:srgbClr val="00C2CB"/>
                </a:solidFill>
                <a:latin typeface="Consolas" pitchFamily="34" charset="0"/>
              </a:rPr>
              <a:t>total_marks</a:t>
            </a:r>
            <a:r>
              <a:rPr lang="en-IN" sz="900" dirty="0">
                <a:solidFill>
                  <a:srgbClr val="00C2CB"/>
                </a:solidFill>
                <a:latin typeface="Consolas" pitchFamily="34" charset="0"/>
              </a:rPr>
              <a:t>)</a:t>
            </a:r>
          </a:p>
          <a:p>
            <a:r>
              <a:rPr lang="en-IN" sz="900" dirty="0">
                <a:solidFill>
                  <a:srgbClr val="00C2CB"/>
                </a:solidFill>
                <a:latin typeface="Consolas" pitchFamily="34" charset="0"/>
              </a:rPr>
              <a:t>print('Percentage </a:t>
            </a:r>
            <a:r>
              <a:rPr lang="en-IN" sz="900" dirty="0" err="1">
                <a:solidFill>
                  <a:srgbClr val="00C2CB"/>
                </a:solidFill>
                <a:latin typeface="Consolas" pitchFamily="34" charset="0"/>
              </a:rPr>
              <a:t>scored',Percentage</a:t>
            </a:r>
            <a:r>
              <a:rPr lang="en-IN" sz="900" dirty="0">
                <a:solidFill>
                  <a:srgbClr val="00C2CB"/>
                </a:solidFill>
                <a:latin typeface="Consolas" pitchFamily="34" charset="0"/>
              </a:rPr>
              <a:t>)</a:t>
            </a:r>
          </a:p>
          <a:p>
            <a:r>
              <a:rPr lang="en-IN" sz="900" dirty="0">
                <a:solidFill>
                  <a:srgbClr val="00C2CB"/>
                </a:solidFill>
                <a:latin typeface="Consolas" pitchFamily="34" charset="0"/>
              </a:rPr>
              <a:t>print('Average marks',</a:t>
            </a:r>
            <a:r>
              <a:rPr lang="en-IN" sz="900" dirty="0" err="1">
                <a:solidFill>
                  <a:srgbClr val="00C2CB"/>
                </a:solidFill>
                <a:latin typeface="Consolas" pitchFamily="34" charset="0"/>
              </a:rPr>
              <a:t>Average_marks</a:t>
            </a:r>
            <a:r>
              <a:rPr lang="en-IN" sz="900" dirty="0">
                <a:solidFill>
                  <a:srgbClr val="00C2CB"/>
                </a:solidFill>
                <a:latin typeface="Consolas" pitchFamily="34" charset="0"/>
              </a:rPr>
              <a:t>)</a:t>
            </a:r>
          </a:p>
          <a:p>
            <a:r>
              <a:rPr lang="en-IN" sz="900" dirty="0">
                <a:solidFill>
                  <a:srgbClr val="00C2CB"/>
                </a:solidFill>
                <a:latin typeface="Consolas" pitchFamily="34" charset="0"/>
              </a:rPr>
              <a:t>if Percentage &gt;= 80:    </a:t>
            </a:r>
          </a:p>
          <a:p>
            <a:r>
              <a:rPr lang="en-IN" sz="900" dirty="0">
                <a:solidFill>
                  <a:srgbClr val="00C2CB"/>
                </a:solidFill>
                <a:latin typeface="Consolas" pitchFamily="34" charset="0"/>
              </a:rPr>
              <a:t>    print('Grade based on percentage', Percentage, 'A’)</a:t>
            </a:r>
          </a:p>
          <a:p>
            <a:r>
              <a:rPr lang="en-IN" sz="900" dirty="0" err="1">
                <a:solidFill>
                  <a:srgbClr val="00C2CB"/>
                </a:solidFill>
                <a:latin typeface="Consolas" pitchFamily="34" charset="0"/>
              </a:rPr>
              <a:t>elif</a:t>
            </a:r>
            <a:r>
              <a:rPr lang="en-IN" sz="900" dirty="0">
                <a:solidFill>
                  <a:srgbClr val="00C2CB"/>
                </a:solidFill>
                <a:latin typeface="Consolas" pitchFamily="34" charset="0"/>
              </a:rPr>
              <a:t> Percentage &gt;= 65:    </a:t>
            </a:r>
          </a:p>
          <a:p>
            <a:r>
              <a:rPr lang="en-IN" sz="900" dirty="0">
                <a:solidFill>
                  <a:srgbClr val="00C2CB"/>
                </a:solidFill>
                <a:latin typeface="Consolas" pitchFamily="34" charset="0"/>
              </a:rPr>
              <a:t>     print('Grade based on percentage', Percentage, 'B’)</a:t>
            </a:r>
          </a:p>
          <a:p>
            <a:r>
              <a:rPr lang="en-IN" sz="900" dirty="0" err="1">
                <a:solidFill>
                  <a:srgbClr val="00C2CB"/>
                </a:solidFill>
                <a:latin typeface="Consolas" pitchFamily="34" charset="0"/>
              </a:rPr>
              <a:t>elif</a:t>
            </a:r>
            <a:r>
              <a:rPr lang="en-IN" sz="900" dirty="0">
                <a:solidFill>
                  <a:srgbClr val="00C2CB"/>
                </a:solidFill>
                <a:latin typeface="Consolas" pitchFamily="34" charset="0"/>
              </a:rPr>
              <a:t> Percentage &gt;= 33:    </a:t>
            </a:r>
          </a:p>
          <a:p>
            <a:r>
              <a:rPr lang="en-IN" sz="900" dirty="0">
                <a:solidFill>
                  <a:srgbClr val="00C2CB"/>
                </a:solidFill>
                <a:latin typeface="Consolas" pitchFamily="34" charset="0"/>
              </a:rPr>
              <a:t>     print('Grade based on percentage', Percentage, 'C’)</a:t>
            </a:r>
          </a:p>
          <a:p>
            <a:r>
              <a:rPr lang="en-IN" sz="900" dirty="0">
                <a:solidFill>
                  <a:srgbClr val="00C2CB"/>
                </a:solidFill>
                <a:latin typeface="Consolas" pitchFamily="34" charset="0"/>
              </a:rPr>
              <a:t>else:   </a:t>
            </a:r>
          </a:p>
          <a:p>
            <a:r>
              <a:rPr lang="en-IN" sz="900" dirty="0">
                <a:solidFill>
                  <a:srgbClr val="00C2CB"/>
                </a:solidFill>
                <a:latin typeface="Consolas" pitchFamily="34" charset="0"/>
              </a:rPr>
              <a:t>     print('Grade based on percentage', Percentage, 'Fail')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While Loops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5F3FC"/>
                </a:solidFill>
              </a:rPr>
              <a:t>Repetition with condition-based control flow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743200" cy="1371600"/>
          </a:xfrm>
          <a:prstGeom prst="rect">
            <a:avLst/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88720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condition: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body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update counter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14300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207008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6AE0"/>
                </a:solidFill>
              </a:rPr>
              <a:t>① Check condition — if True, execute body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F5E"/>
                </a:solidFill>
              </a:rPr>
              <a:t>② Execute the loop body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F5E"/>
                </a:solidFill>
              </a:rPr>
              <a:t>③ Update the counter variable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F5E"/>
                </a:solidFill>
              </a:rPr>
              <a:t>④ Repeat until condition is False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162763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743200"/>
            <a:ext cx="1627632" cy="3200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77977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5E"/>
                </a:solidFill>
              </a:rPr>
              <a:t>Print 1–10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3127248"/>
            <a:ext cx="1536192" cy="169164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82112"/>
            <a:ext cx="1463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num=1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num&lt;=10: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print(num)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num+=1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103120" y="2743200"/>
            <a:ext cx="162763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103120" y="2743200"/>
            <a:ext cx="1627632" cy="3200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48840" y="277977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1A1F5E"/>
                </a:solidFill>
              </a:rPr>
              <a:t>Multiplication Table</a:t>
            </a:r>
            <a:r>
              <a:rPr lang="en-IN" sz="800" b="1" dirty="0">
                <a:solidFill>
                  <a:srgbClr val="1A1F5E"/>
                </a:solidFill>
              </a:rPr>
              <a:t> Take number input by user</a:t>
            </a:r>
            <a:endParaRPr lang="en-US" sz="800" b="1" dirty="0">
              <a:solidFill>
                <a:srgbClr val="1A1F5E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148840" y="3127248"/>
            <a:ext cx="1536192" cy="169164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94560" y="3182112"/>
            <a:ext cx="1463040" cy="1487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x=int(input('x='))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num&lt;=10: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print(x,'x',num,'=',x*num)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num+=1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840480" y="2743200"/>
            <a:ext cx="162763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9624" y="2743200"/>
            <a:ext cx="1627632" cy="3200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86200" y="277977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800" b="1" dirty="0">
                <a:solidFill>
                  <a:srgbClr val="1A1F5E"/>
                </a:solidFill>
              </a:rPr>
              <a:t>asks the user for a password and keeps asking until the correct password is entered.</a:t>
            </a:r>
            <a:endParaRPr lang="en-US" sz="800" b="1" dirty="0">
              <a:solidFill>
                <a:srgbClr val="1A1F5E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886200" y="3154680"/>
            <a:ext cx="1536192" cy="169164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0" y="3182112"/>
            <a:ext cx="1463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password!='python123':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password=input('enter password')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print('login')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577840" y="2743200"/>
            <a:ext cx="162763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77840" y="2743200"/>
            <a:ext cx="1627632" cy="3200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23560" y="277977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5E"/>
                </a:solidFill>
              </a:rPr>
              <a:t>Sum 1 to 20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23560" y="3127248"/>
            <a:ext cx="1536192" cy="169164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0" y="3182112"/>
            <a:ext cx="1463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total=0; num=1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num&lt;=20: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total+=num; num+=1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print(total)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315200" y="2743200"/>
            <a:ext cx="162763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15200" y="2743200"/>
            <a:ext cx="1627632" cy="3200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60920" y="277977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5E"/>
                </a:solidFill>
              </a:rPr>
              <a:t>Pyramid Pattern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60920" y="3127248"/>
            <a:ext cx="1536192" cy="169164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0" y="3182112"/>
            <a:ext cx="1463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i=1; num=int(input())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i&lt;=num: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print('*'*i)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i+=1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For Loops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1FAE5"/>
                </a:solidFill>
              </a:rPr>
              <a:t>Iterating over sequences, ranges, lists &amp; dictionaries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1143000"/>
          </a:xfrm>
          <a:prstGeom prst="rect">
            <a:avLst/>
          </a:prstGeom>
          <a:solidFill>
            <a:srgbClr val="F4F6FB"/>
          </a:solidFill>
          <a:ln w="190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34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</a:rPr>
              <a:t>Even Numbers 0–20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3840480" cy="658368"/>
          </a:xfrm>
          <a:prstGeom prst="rect">
            <a:avLst/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17904"/>
            <a:ext cx="3657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x in range(0, 21, 2):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print(x)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167128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2A4"/>
                </a:solidFill>
              </a:rPr>
              <a:t>→ range(start, stop, step)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2450592"/>
            <a:ext cx="4114800" cy="1143000"/>
          </a:xfrm>
          <a:prstGeom prst="rect">
            <a:avLst/>
          </a:prstGeom>
          <a:solidFill>
            <a:srgbClr val="F4F6FB"/>
          </a:solidFill>
          <a:ln w="190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4963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</a:rPr>
              <a:t>continue &amp; break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743200"/>
            <a:ext cx="3840480" cy="658368"/>
          </a:xfrm>
          <a:prstGeom prst="rect">
            <a:avLst/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779776"/>
            <a:ext cx="3657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x in range(1, 10):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x==5: continue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print(x)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x==7: break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429000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2A4"/>
                </a:solidFill>
              </a:rPr>
              <a:t>→ Skip 5, stop at 7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3712464"/>
            <a:ext cx="4114800" cy="1143000"/>
          </a:xfrm>
          <a:prstGeom prst="rect">
            <a:avLst/>
          </a:prstGeom>
          <a:solidFill>
            <a:srgbClr val="F4F6FB"/>
          </a:solidFill>
          <a:ln w="190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37581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</a:rPr>
              <a:t>Dictionary Iteration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005072"/>
            <a:ext cx="3840480" cy="658368"/>
          </a:xfrm>
          <a:prstGeom prst="rect">
            <a:avLst/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041648"/>
            <a:ext cx="3657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= {'name':'harsh',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'age':19,'city':'delhi'}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k,v in student.items():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print(k, ':', v)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4690872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2A4"/>
                </a:solidFill>
              </a:rPr>
              <a:t>→ .items() → key-value pairs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1188720"/>
            <a:ext cx="4114800" cy="361188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C55E"/>
                </a:solidFill>
              </a:rPr>
              <a:t>⚡ Key Concepts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800600" y="1737360"/>
            <a:ext cx="3840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17647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range(start, stop, step)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19472" y="19933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</a:rPr>
              <a:t>Generates a sequence of numbers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2304288"/>
            <a:ext cx="3840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2331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19472" y="2560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</a:rPr>
              <a:t>Skip current iteration, go to next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2871216"/>
            <a:ext cx="3840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28986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919472" y="31272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</a:rPr>
              <a:t>Exit the loop immediately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00600" y="3438144"/>
            <a:ext cx="3840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34655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dict.items()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19472" y="36941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</a:rPr>
              <a:t>Returns key-value tuple pairs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00600" y="4005072"/>
            <a:ext cx="3840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9472" y="40325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k,v in ...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919472" y="42611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</a:rPr>
              <a:t>Unpack tuple into variables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Lists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EF3C7"/>
                </a:solidFill>
              </a:rPr>
              <a:t>Python's most versatile built-in data structure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384048"/>
          </a:xfrm>
          <a:prstGeom prst="rect">
            <a:avLst/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 = [12, 234, 212, 42, 432, 45, 654, 33]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1600200" cy="13258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737360"/>
            <a:ext cx="1600200" cy="54864"/>
          </a:xfrm>
          <a:prstGeom prst="rect">
            <a:avLst/>
          </a:prstGeom>
          <a:solidFill>
            <a:srgbClr val="2D6AE0"/>
          </a:solidFill>
          <a:ln w="12700">
            <a:solidFill>
              <a:srgbClr val="2D6A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" y="1874520"/>
            <a:ext cx="1444752" cy="640080"/>
          </a:xfrm>
          <a:prstGeom prst="rect">
            <a:avLst/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202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 err="1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num.insert</a:t>
            </a: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(1,22)</a:t>
            </a:r>
          </a:p>
          <a:p>
            <a:pPr algn="ctr"/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633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2A4"/>
                </a:solidFill>
              </a:rPr>
              <a:t>Add 22 at index 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048256" y="1737360"/>
            <a:ext cx="1600200" cy="13258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48256" y="1737360"/>
            <a:ext cx="16002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21408" y="1874520"/>
            <a:ext cx="1444752" cy="640080"/>
          </a:xfrm>
          <a:prstGeom prst="rect">
            <a:avLst/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39696" y="19202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 err="1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num.append</a:t>
            </a: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(0) print(num)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93976" y="2633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2A4"/>
                </a:solidFill>
              </a:rPr>
              <a:t>Add 0 at the end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30752" y="1737360"/>
            <a:ext cx="1600200" cy="13258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30752" y="1737360"/>
            <a:ext cx="1600200" cy="5486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03904" y="1874520"/>
            <a:ext cx="1444752" cy="640080"/>
          </a:xfrm>
          <a:prstGeom prst="rect">
            <a:avLst/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22192" y="19202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 err="1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num.pop</a:t>
            </a: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</a:p>
          <a:p>
            <a:pPr algn="ctr"/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776472" y="2633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2A4"/>
                </a:solidFill>
              </a:rPr>
              <a:t>Remove last item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13248" y="1737360"/>
            <a:ext cx="1600200" cy="13258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13248" y="1737360"/>
            <a:ext cx="1600200" cy="5486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18404" y="1874520"/>
            <a:ext cx="1444752" cy="640080"/>
          </a:xfrm>
          <a:prstGeom prst="rect">
            <a:avLst/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04688" y="19202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pt-BR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num.pop(-9)</a:t>
            </a:r>
          </a:p>
          <a:p>
            <a:pPr algn="ctr"/>
            <a:r>
              <a:rPr lang="pt-BR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58968" y="2633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2A4"/>
                </a:solidFill>
              </a:rPr>
              <a:t>Remove first item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095744" y="1737360"/>
            <a:ext cx="1600200" cy="13258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095744" y="1737360"/>
            <a:ext cx="16002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68896" y="1874520"/>
            <a:ext cx="1444752" cy="640080"/>
          </a:xfrm>
          <a:prstGeom prst="rect">
            <a:avLst/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87184" y="19202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pt-BR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num.remove(234)</a:t>
            </a:r>
          </a:p>
          <a:p>
            <a:pPr algn="ctr"/>
            <a:r>
              <a:rPr lang="pt-BR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41464" y="2633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2A4"/>
                </a:solidFill>
              </a:rPr>
              <a:t>Remove by value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3200400"/>
            <a:ext cx="1600200" cy="13258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3200400"/>
            <a:ext cx="160020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8912" y="3337560"/>
            <a:ext cx="1444752" cy="640080"/>
          </a:xfrm>
          <a:prstGeom prst="rect">
            <a:avLst/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3832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 err="1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num.sort</a:t>
            </a: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(reverse=True)print(num)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11480" y="409651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2A4"/>
                </a:solidFill>
              </a:rPr>
              <a:t>Sort descending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048256" y="3200400"/>
            <a:ext cx="1600200" cy="13258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048256" y="3200400"/>
            <a:ext cx="160020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1408" y="3337560"/>
            <a:ext cx="1444752" cy="640080"/>
          </a:xfrm>
          <a:prstGeom prst="rect">
            <a:avLst/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39696" y="33832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 err="1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num.sort</a:t>
            </a: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(reverse=False)print(num)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093976" y="409651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2A4"/>
                </a:solidFill>
              </a:rPr>
              <a:t>Sort ascending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730752" y="3200400"/>
            <a:ext cx="1600200" cy="13258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730752" y="3200400"/>
            <a:ext cx="1600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03904" y="3337560"/>
            <a:ext cx="1444752" cy="640080"/>
          </a:xfrm>
          <a:prstGeom prst="rect">
            <a:avLst/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22192" y="33832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print(min(num))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776472" y="409651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2A4"/>
                </a:solidFill>
              </a:rPr>
              <a:t>Find minimum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413248" y="3200400"/>
            <a:ext cx="1600200" cy="13258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413248" y="3200400"/>
            <a:ext cx="1600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522976" y="3404181"/>
            <a:ext cx="1444752" cy="640080"/>
          </a:xfrm>
          <a:prstGeom prst="rect">
            <a:avLst/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04688" y="33832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print(max(num))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58968" y="409651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2A4"/>
                </a:solidFill>
              </a:rPr>
              <a:t>Find maximum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095744" y="3200400"/>
            <a:ext cx="1600200" cy="13258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7095744" y="3200400"/>
            <a:ext cx="1600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168896" y="3337560"/>
            <a:ext cx="1444752" cy="640080"/>
          </a:xfrm>
          <a:prstGeom prst="rect">
            <a:avLst/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87184" y="33832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print(sum(num))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141464" y="409651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2A4"/>
                </a:solidFill>
              </a:rPr>
              <a:t>Calculate total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262D0D6-24E7-3A1B-6733-9F201C9C6007}"/>
              </a:ext>
            </a:extLst>
          </p:cNvPr>
          <p:cNvSpPr/>
          <p:nvPr/>
        </p:nvSpPr>
        <p:spPr>
          <a:xfrm>
            <a:off x="5934" y="1"/>
            <a:ext cx="9138065" cy="5143500"/>
          </a:xfrm>
          <a:prstGeom prst="rect">
            <a:avLst/>
          </a:prstGeom>
          <a:solidFill>
            <a:srgbClr val="0F1629"/>
          </a:solidFill>
          <a:ln w="12700">
            <a:solidFill>
              <a:srgbClr val="2D3A55"/>
            </a:solidFill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308257B6-D11E-F9E3-46BF-6E6801F5FE77}"/>
              </a:ext>
            </a:extLst>
          </p:cNvPr>
          <p:cNvSpPr/>
          <p:nvPr/>
        </p:nvSpPr>
        <p:spPr>
          <a:xfrm>
            <a:off x="0" y="0"/>
            <a:ext cx="9144000" cy="555171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8A67F0-E218-AE3F-283E-C4823A91F1FA}"/>
              </a:ext>
            </a:extLst>
          </p:cNvPr>
          <p:cNvSpPr txBox="1"/>
          <p:nvPr/>
        </p:nvSpPr>
        <p:spPr>
          <a:xfrm>
            <a:off x="0" y="59611"/>
            <a:ext cx="3967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06📈 Seborn Visualizations data</a:t>
            </a:r>
            <a:endParaRPr lang="en-US" dirty="0">
              <a:solidFill>
                <a:schemeClr val="bg2"/>
              </a:solidFill>
            </a:endParaRP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6317F7-EE1F-6EB6-080C-058A6EEB0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4" y="705942"/>
            <a:ext cx="9013372" cy="4377947"/>
          </a:xfrm>
          <a:prstGeom prst="rect">
            <a:avLst/>
          </a:prstGeom>
          <a:solidFill>
            <a:srgbClr val="0F1629"/>
          </a:solidFill>
          <a:ln w="12700">
            <a:solidFill>
              <a:srgbClr val="2D3A55"/>
            </a:solidFill>
            <a:prstDash val="solid"/>
          </a:ln>
        </p:spPr>
      </p:pic>
    </p:spTree>
    <p:extLst>
      <p:ext uri="{BB962C8B-B14F-4D97-AF65-F5344CB8AC3E}">
        <p14:creationId xmlns:p14="http://schemas.microsoft.com/office/powerpoint/2010/main" val="2469164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Pandas &amp; Data Visualization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CA5A5"/>
                </a:solidFill>
              </a:rPr>
              <a:t>Life Expectancy Dataset Analysis  +  Seaborn Charts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2D6AE0">
              <a:alpha val="70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338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600200" y="1115568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2D6AE0">
              <a:alpha val="70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11338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834640" y="1115568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2D6AE0">
              <a:alpha val="70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11338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069080" y="1115568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2D6AE0">
              <a:alpha val="70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69080" y="11338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seaborn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1508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Dataset Analysis Tasks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1874520"/>
            <a:ext cx="2377440" cy="512064"/>
          </a:xfrm>
          <a:prstGeom prst="rect">
            <a:avLst/>
          </a:prstGeom>
          <a:solidFill>
            <a:srgbClr val="0F1629"/>
          </a:solidFill>
          <a:ln w="12700">
            <a:solidFill>
              <a:srgbClr val="2D3A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19019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3CA"/>
                </a:solidFill>
              </a:rPr>
              <a:t>Head (5 rows)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38912" y="211226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 err="1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</a:t>
            </a:r>
            <a:r>
              <a:rPr lang="en-US" sz="85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852928" y="1874520"/>
            <a:ext cx="2377440" cy="512064"/>
          </a:xfrm>
          <a:prstGeom prst="rect">
            <a:avLst/>
          </a:prstGeom>
          <a:solidFill>
            <a:srgbClr val="0F1629"/>
          </a:solidFill>
          <a:ln w="12700">
            <a:solidFill>
              <a:srgbClr val="2D3A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19019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3CA"/>
                </a:solidFill>
              </a:rPr>
              <a:t>Shape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926080" y="211226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 err="1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2441448"/>
            <a:ext cx="2377440" cy="512064"/>
          </a:xfrm>
          <a:prstGeom prst="rect">
            <a:avLst/>
          </a:prstGeom>
          <a:solidFill>
            <a:srgbClr val="0F1629"/>
          </a:solidFill>
          <a:ln w="12700">
            <a:solidFill>
              <a:srgbClr val="2D3A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2468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3CA"/>
                </a:solidFill>
              </a:rPr>
              <a:t>Missing values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38912" y="267919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 err="1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df.isnull</a:t>
            </a:r>
            <a:r>
              <a:rPr lang="en-US" sz="85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().sum()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852928" y="2441448"/>
            <a:ext cx="2377440" cy="512064"/>
          </a:xfrm>
          <a:prstGeom prst="rect">
            <a:avLst/>
          </a:prstGeom>
          <a:solidFill>
            <a:srgbClr val="0F1629"/>
          </a:solidFill>
          <a:ln w="12700">
            <a:solidFill>
              <a:srgbClr val="2D3A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0" y="2468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3CA"/>
                </a:solidFill>
              </a:rPr>
              <a:t>Unique countries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926080" y="267919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 err="1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85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['Country'].nunique()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3008376"/>
            <a:ext cx="2377440" cy="512064"/>
          </a:xfrm>
          <a:prstGeom prst="rect">
            <a:avLst/>
          </a:prstGeom>
          <a:solidFill>
            <a:srgbClr val="0F1629"/>
          </a:solidFill>
          <a:ln w="12700">
            <a:solidFill>
              <a:srgbClr val="2D3A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0358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3CA"/>
                </a:solidFill>
              </a:rPr>
              <a:t>Column names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38912" y="32461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 err="1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df.columns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852928" y="3008376"/>
            <a:ext cx="2377440" cy="512064"/>
          </a:xfrm>
          <a:prstGeom prst="rect">
            <a:avLst/>
          </a:prstGeom>
          <a:solidFill>
            <a:srgbClr val="0F1629"/>
          </a:solidFill>
          <a:ln w="12700">
            <a:solidFill>
              <a:srgbClr val="2D3A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0" y="30358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3CA"/>
                </a:solidFill>
              </a:rPr>
              <a:t>Life Expectancy &gt; 75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926080" y="32461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 err="1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85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 err="1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85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850" dirty="0" err="1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85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['Life expectancy']&gt;75])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3575304"/>
            <a:ext cx="2377440" cy="512064"/>
          </a:xfrm>
          <a:prstGeom prst="rect">
            <a:avLst/>
          </a:prstGeom>
          <a:solidFill>
            <a:srgbClr val="0F1629"/>
          </a:solidFill>
          <a:ln w="12700">
            <a:solidFill>
              <a:srgbClr val="2D3A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36027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3CA"/>
                </a:solidFill>
              </a:rPr>
              <a:t>Max Life Expectancy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38912" y="38130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 err="1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85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['Life expectancy '].max()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852928" y="3575304"/>
            <a:ext cx="2377440" cy="512064"/>
          </a:xfrm>
          <a:prstGeom prst="rect">
            <a:avLst/>
          </a:prstGeom>
          <a:solidFill>
            <a:srgbClr val="0F1629"/>
          </a:solidFill>
          <a:ln w="12700">
            <a:solidFill>
              <a:srgbClr val="2D3A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26080" y="36027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3CA"/>
                </a:solidFill>
              </a:rPr>
              <a:t>Min GDP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926080" y="38130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 err="1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85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['GDP'].min()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5760" y="4142232"/>
            <a:ext cx="2377440" cy="512064"/>
          </a:xfrm>
          <a:prstGeom prst="rect">
            <a:avLst/>
          </a:prstGeom>
          <a:solidFill>
            <a:srgbClr val="0F1629"/>
          </a:solidFill>
          <a:ln w="12700">
            <a:solidFill>
              <a:srgbClr val="2D3A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" y="41696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3CA"/>
                </a:solidFill>
              </a:rPr>
              <a:t>Avg Alcohol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38912" y="437997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850" dirty="0" err="1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df'Alcohol</a:t>
            </a:r>
            <a:r>
              <a:rPr lang="en-US" sz="85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'].mean()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852928" y="4142232"/>
            <a:ext cx="2377440" cy="512064"/>
          </a:xfrm>
          <a:prstGeom prst="rect">
            <a:avLst/>
          </a:prstGeom>
          <a:solidFill>
            <a:srgbClr val="0F1629"/>
          </a:solidFill>
          <a:ln w="12700">
            <a:solidFill>
              <a:srgbClr val="2D3A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26080" y="41696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3CA"/>
                </a:solidFill>
              </a:rPr>
              <a:t>Top 5 by Schooling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926080" y="437997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" dirty="0" err="1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df.sort_values</a:t>
            </a:r>
            <a:r>
              <a:rPr lang="en-US" sz="8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('Schooling',ascending=False)[['Country','Schooling']].head(5)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440680" y="20574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806440" y="20208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440680" y="262432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5806440" y="25877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806440" y="28072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440680" y="319125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5806440" y="31546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806440" y="33741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440680" y="375818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5806440" y="37216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806440" y="39410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440680" y="432511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5806440" y="42885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806440" y="45079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494890-C5FD-18CF-B3C0-A3824A466FE4}"/>
              </a:ext>
            </a:extLst>
          </p:cNvPr>
          <p:cNvSpPr/>
          <p:nvPr/>
        </p:nvSpPr>
        <p:spPr>
          <a:xfrm>
            <a:off x="5934" y="1"/>
            <a:ext cx="9138065" cy="5143500"/>
          </a:xfrm>
          <a:prstGeom prst="rect">
            <a:avLst/>
          </a:prstGeom>
          <a:solidFill>
            <a:srgbClr val="0F1629"/>
          </a:solidFill>
          <a:ln w="12700">
            <a:solidFill>
              <a:srgbClr val="2D3A55"/>
            </a:solidFill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4" name="Shape 56">
            <a:extLst>
              <a:ext uri="{FF2B5EF4-FFF2-40B4-BE49-F238E27FC236}">
                <a16:creationId xmlns:a16="http://schemas.microsoft.com/office/drawing/2014/main" id="{6C397313-F2AE-846F-F776-A420AAE44C02}"/>
              </a:ext>
            </a:extLst>
          </p:cNvPr>
          <p:cNvSpPr/>
          <p:nvPr/>
        </p:nvSpPr>
        <p:spPr>
          <a:xfrm>
            <a:off x="352697" y="807285"/>
            <a:ext cx="3246120" cy="493776"/>
          </a:xfrm>
          <a:prstGeom prst="rect">
            <a:avLst/>
          </a:prstGeom>
          <a:solidFill>
            <a:srgbClr val="1A2140"/>
          </a:solidFill>
          <a:ln w="12700">
            <a:solidFill>
              <a:srgbClr val="2D3A55"/>
            </a:solidFill>
            <a:prstDash val="solid"/>
          </a:ln>
        </p:spPr>
      </p:sp>
      <p:sp>
        <p:nvSpPr>
          <p:cNvPr id="5" name="Shape 56">
            <a:extLst>
              <a:ext uri="{FF2B5EF4-FFF2-40B4-BE49-F238E27FC236}">
                <a16:creationId xmlns:a16="http://schemas.microsoft.com/office/drawing/2014/main" id="{61125E96-BAAE-CF6B-FC2D-74D410663D89}"/>
              </a:ext>
            </a:extLst>
          </p:cNvPr>
          <p:cNvSpPr/>
          <p:nvPr/>
        </p:nvSpPr>
        <p:spPr>
          <a:xfrm>
            <a:off x="5003074" y="807285"/>
            <a:ext cx="3246120" cy="493776"/>
          </a:xfrm>
          <a:prstGeom prst="rect">
            <a:avLst/>
          </a:prstGeom>
          <a:solidFill>
            <a:srgbClr val="1A2140"/>
          </a:solidFill>
          <a:ln w="12700">
            <a:solidFill>
              <a:srgbClr val="2D3A55"/>
            </a:solidFill>
            <a:prstDash val="solid"/>
          </a:ln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ED8102-FC99-49DF-77AA-5C29115A0D87}"/>
              </a:ext>
            </a:extLst>
          </p:cNvPr>
          <p:cNvSpPr txBox="1"/>
          <p:nvPr/>
        </p:nvSpPr>
        <p:spPr>
          <a:xfrm>
            <a:off x="292315" y="874934"/>
            <a:ext cx="3232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59E0B"/>
                </a:solidFill>
              </a:rPr>
              <a:t>◔</a:t>
            </a:r>
            <a:endParaRPr lang="en-US" dirty="0"/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04474-B18F-21E2-7DD4-CCF65D9AF975}"/>
              </a:ext>
            </a:extLst>
          </p:cNvPr>
          <p:cNvSpPr txBox="1"/>
          <p:nvPr/>
        </p:nvSpPr>
        <p:spPr>
          <a:xfrm>
            <a:off x="615598" y="784595"/>
            <a:ext cx="1696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FFFF"/>
                </a:solidFill>
              </a:rPr>
              <a:t>Pie Chart</a:t>
            </a:r>
            <a:endParaRPr lang="en-US" sz="1000" dirty="0"/>
          </a:p>
          <a:p>
            <a:endParaRPr lang="en-IN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784FFF-3874-39FE-A587-2CB7D594BD76}"/>
              </a:ext>
            </a:extLst>
          </p:cNvPr>
          <p:cNvSpPr txBox="1"/>
          <p:nvPr/>
        </p:nvSpPr>
        <p:spPr>
          <a:xfrm>
            <a:off x="534569" y="970862"/>
            <a:ext cx="297057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err="1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plt.pie</a:t>
            </a: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 err="1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00" dirty="0" err="1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df_name</a:t>
            </a: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900" dirty="0" err="1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r>
              <a:rPr lang="en-US" sz="900" dirty="0" err="1">
                <a:solidFill>
                  <a:srgbClr val="00C2CB"/>
                </a:solidFill>
                <a:latin typeface="Consolas" pitchFamily="34" charset="0"/>
              </a:rPr>
              <a:t>Plt.show</a:t>
            </a:r>
            <a:r>
              <a:rPr lang="en-US" sz="900" dirty="0">
                <a:solidFill>
                  <a:srgbClr val="00C2CB"/>
                </a:solidFill>
                <a:latin typeface="Consolas" pitchFamily="34" charset="0"/>
              </a:rPr>
              <a:t>()</a:t>
            </a:r>
            <a:endParaRPr lang="en-US" sz="900" dirty="0"/>
          </a:p>
          <a:p>
            <a:endParaRPr lang="en-IN" sz="9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D68B11-EFD5-297E-830A-416497B42DA6}"/>
              </a:ext>
            </a:extLst>
          </p:cNvPr>
          <p:cNvSpPr txBox="1"/>
          <p:nvPr/>
        </p:nvSpPr>
        <p:spPr>
          <a:xfrm>
            <a:off x="4909398" y="874933"/>
            <a:ext cx="2010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59E0B"/>
                </a:solidFill>
              </a:rPr>
              <a:t>〜</a:t>
            </a:r>
            <a:endParaRPr lang="en-US" dirty="0"/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F7DFBD-4506-4363-6188-11D006D8143D}"/>
              </a:ext>
            </a:extLst>
          </p:cNvPr>
          <p:cNvSpPr txBox="1"/>
          <p:nvPr/>
        </p:nvSpPr>
        <p:spPr>
          <a:xfrm>
            <a:off x="5170905" y="816974"/>
            <a:ext cx="1404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FFFF"/>
                </a:solidFill>
              </a:rPr>
              <a:t>Line Plot</a:t>
            </a:r>
            <a:endParaRPr lang="en-US" sz="1000" dirty="0"/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E3955D-8818-6E72-822C-E306F4CFBB2F}"/>
              </a:ext>
            </a:extLst>
          </p:cNvPr>
          <p:cNvSpPr txBox="1"/>
          <p:nvPr/>
        </p:nvSpPr>
        <p:spPr>
          <a:xfrm>
            <a:off x="5171898" y="980732"/>
            <a:ext cx="284770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err="1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</a:t>
            </a: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 err="1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ypoints</a:t>
            </a: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00" dirty="0" err="1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linestyle</a:t>
            </a: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='dotted’)</a:t>
            </a:r>
          </a:p>
          <a:p>
            <a:r>
              <a:rPr lang="en-US" sz="900" dirty="0" err="1">
                <a:solidFill>
                  <a:srgbClr val="00C2CB"/>
                </a:solidFill>
                <a:latin typeface="Consolas" pitchFamily="34" charset="0"/>
              </a:rPr>
              <a:t>Plt.show</a:t>
            </a:r>
            <a:r>
              <a:rPr lang="en-US" sz="900" dirty="0">
                <a:solidFill>
                  <a:srgbClr val="00C2CB"/>
                </a:solidFill>
                <a:latin typeface="Consolas" pitchFamily="34" charset="0"/>
              </a:rPr>
              <a:t>()</a:t>
            </a:r>
            <a:endParaRPr lang="en-US" sz="900" dirty="0"/>
          </a:p>
          <a:p>
            <a:endParaRPr lang="en-IN" sz="900" dirty="0"/>
          </a:p>
        </p:txBody>
      </p:sp>
      <p:sp>
        <p:nvSpPr>
          <p:cNvPr id="12" name="Shape 42">
            <a:extLst>
              <a:ext uri="{FF2B5EF4-FFF2-40B4-BE49-F238E27FC236}">
                <a16:creationId xmlns:a16="http://schemas.microsoft.com/office/drawing/2014/main" id="{2ECE8892-7DCC-2701-231D-CDFD7BEB9BBC}"/>
              </a:ext>
            </a:extLst>
          </p:cNvPr>
          <p:cNvSpPr/>
          <p:nvPr/>
        </p:nvSpPr>
        <p:spPr>
          <a:xfrm>
            <a:off x="352697" y="2248652"/>
            <a:ext cx="3086249" cy="2781059"/>
          </a:xfrm>
          <a:prstGeom prst="rect">
            <a:avLst/>
          </a:prstGeom>
          <a:solidFill>
            <a:srgbClr val="0F1629"/>
          </a:solidFill>
          <a:ln w="12700">
            <a:solidFill>
              <a:srgbClr val="2D3A5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Shape 42">
            <a:extLst>
              <a:ext uri="{FF2B5EF4-FFF2-40B4-BE49-F238E27FC236}">
                <a16:creationId xmlns:a16="http://schemas.microsoft.com/office/drawing/2014/main" id="{AB8D61F0-7287-EC97-533E-D667F1C5484E}"/>
              </a:ext>
            </a:extLst>
          </p:cNvPr>
          <p:cNvSpPr/>
          <p:nvPr/>
        </p:nvSpPr>
        <p:spPr>
          <a:xfrm>
            <a:off x="5059302" y="2226081"/>
            <a:ext cx="3331029" cy="2756430"/>
          </a:xfrm>
          <a:prstGeom prst="rect">
            <a:avLst/>
          </a:prstGeom>
          <a:solidFill>
            <a:srgbClr val="0F1629"/>
          </a:solidFill>
          <a:ln w="12700">
            <a:solidFill>
              <a:srgbClr val="2D3A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42">
            <a:extLst>
              <a:ext uri="{FF2B5EF4-FFF2-40B4-BE49-F238E27FC236}">
                <a16:creationId xmlns:a16="http://schemas.microsoft.com/office/drawing/2014/main" id="{626BD263-EE10-65EC-9BC0-F8F9D6310DBC}"/>
              </a:ext>
            </a:extLst>
          </p:cNvPr>
          <p:cNvSpPr/>
          <p:nvPr/>
        </p:nvSpPr>
        <p:spPr>
          <a:xfrm>
            <a:off x="5934" y="9127"/>
            <a:ext cx="9138066" cy="71997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2D3A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500810-247E-B831-6B1D-18D497BEBE18}"/>
              </a:ext>
            </a:extLst>
          </p:cNvPr>
          <p:cNvSpPr txBox="1"/>
          <p:nvPr/>
        </p:nvSpPr>
        <p:spPr>
          <a:xfrm>
            <a:off x="199235" y="209006"/>
            <a:ext cx="66457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08📈 </a:t>
            </a:r>
            <a:r>
              <a:rPr lang="en-US" b="1" dirty="0" err="1">
                <a:solidFill>
                  <a:schemeClr val="bg1"/>
                </a:solidFill>
              </a:rPr>
              <a:t>Matplot</a:t>
            </a:r>
            <a:r>
              <a:rPr lang="en-US" b="1" dirty="0">
                <a:solidFill>
                  <a:schemeClr val="bg1"/>
                </a:solidFill>
              </a:rPr>
              <a:t> Visualizations Created</a:t>
            </a:r>
            <a:endParaRPr lang="en-IN" dirty="0">
              <a:solidFill>
                <a:schemeClr val="bg1"/>
              </a:solidFill>
            </a:endParaRPr>
          </a:p>
          <a:p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D22D09D-2EEB-26CF-5888-3232D1146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97" y="2214760"/>
            <a:ext cx="3086249" cy="281495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6209FCF-F895-CA7C-3C74-133379855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303" y="2213988"/>
            <a:ext cx="3331029" cy="280178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8BDD1D4-9F13-F941-245C-F069F58BF20C}"/>
              </a:ext>
            </a:extLst>
          </p:cNvPr>
          <p:cNvSpPr txBox="1"/>
          <p:nvPr/>
        </p:nvSpPr>
        <p:spPr>
          <a:xfrm>
            <a:off x="453956" y="1623060"/>
            <a:ext cx="3144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>
                <a:solidFill>
                  <a:schemeClr val="accent2">
                    <a:lumMod val="75000"/>
                  </a:schemeClr>
                </a:solidFill>
              </a:rPr>
              <a:t>y=</a:t>
            </a:r>
            <a:r>
              <a:rPr lang="en-IN" sz="900" dirty="0" err="1">
                <a:solidFill>
                  <a:schemeClr val="accent2">
                    <a:lumMod val="75000"/>
                  </a:schemeClr>
                </a:solidFill>
              </a:rPr>
              <a:t>np.array</a:t>
            </a:r>
            <a:r>
              <a:rPr lang="en-IN" sz="900" dirty="0">
                <a:solidFill>
                  <a:schemeClr val="accent2">
                    <a:lumMod val="75000"/>
                  </a:schemeClr>
                </a:solidFill>
              </a:rPr>
              <a:t>([33,44,34,33])</a:t>
            </a:r>
          </a:p>
          <a:p>
            <a:r>
              <a:rPr lang="en-IN" sz="900" dirty="0" err="1">
                <a:solidFill>
                  <a:schemeClr val="accent2">
                    <a:lumMod val="75000"/>
                  </a:schemeClr>
                </a:solidFill>
              </a:rPr>
              <a:t>mylables</a:t>
            </a:r>
            <a:r>
              <a:rPr lang="en-IN" sz="900" dirty="0">
                <a:solidFill>
                  <a:schemeClr val="accent2">
                    <a:lumMod val="75000"/>
                  </a:schemeClr>
                </a:solidFill>
              </a:rPr>
              <a:t>=['Apples','Bananas','Cherries','</a:t>
            </a:r>
            <a:r>
              <a:rPr lang="en-IN" sz="900" dirty="0" err="1">
                <a:solidFill>
                  <a:schemeClr val="accent2">
                    <a:lumMod val="75000"/>
                  </a:schemeClr>
                </a:solidFill>
              </a:rPr>
              <a:t>Detes</a:t>
            </a:r>
            <a:r>
              <a:rPr lang="en-IN" sz="900" dirty="0">
                <a:solidFill>
                  <a:schemeClr val="accent2">
                    <a:lumMod val="75000"/>
                  </a:schemeClr>
                </a:solidFill>
              </a:rPr>
              <a:t>']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9D7EA7-C429-A0E2-6A76-DAAC971FCA67}"/>
              </a:ext>
            </a:extLst>
          </p:cNvPr>
          <p:cNvSpPr txBox="1"/>
          <p:nvPr/>
        </p:nvSpPr>
        <p:spPr>
          <a:xfrm>
            <a:off x="4960620" y="1673638"/>
            <a:ext cx="33310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err="1">
                <a:solidFill>
                  <a:schemeClr val="accent2">
                    <a:lumMod val="75000"/>
                  </a:schemeClr>
                </a:solidFill>
              </a:rPr>
              <a:t>ypoints</a:t>
            </a:r>
            <a:r>
              <a:rPr lang="en-US" sz="900" dirty="0">
                <a:solidFill>
                  <a:schemeClr val="accent2">
                    <a:lumMod val="75000"/>
                  </a:schemeClr>
                </a:solidFill>
              </a:rPr>
              <a:t> = </a:t>
            </a:r>
            <a:r>
              <a:rPr lang="en-US" sz="900" dirty="0" err="1">
                <a:solidFill>
                  <a:schemeClr val="accent2">
                    <a:lumMod val="75000"/>
                  </a:schemeClr>
                </a:solidFill>
              </a:rPr>
              <a:t>np.array</a:t>
            </a:r>
            <a:r>
              <a:rPr lang="en-US" sz="900" dirty="0">
                <a:solidFill>
                  <a:schemeClr val="accent2">
                    <a:lumMod val="75000"/>
                  </a:schemeClr>
                </a:solidFill>
              </a:rPr>
              <a:t>([3, 8, 1, 10])</a:t>
            </a:r>
            <a:endParaRPr lang="en-IN" sz="9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3919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8FF3A5-48E0-F7C4-F11F-4CC85FAB1D6E}"/>
              </a:ext>
            </a:extLst>
          </p:cNvPr>
          <p:cNvSpPr/>
          <p:nvPr/>
        </p:nvSpPr>
        <p:spPr>
          <a:xfrm>
            <a:off x="1" y="0"/>
            <a:ext cx="9143998" cy="5290457"/>
          </a:xfrm>
          <a:prstGeom prst="rect">
            <a:avLst/>
          </a:prstGeom>
          <a:solidFill>
            <a:srgbClr val="0F1629"/>
          </a:solidFill>
          <a:ln w="12700">
            <a:solidFill>
              <a:srgbClr val="2D3A55"/>
            </a:solidFill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869143-13AB-6405-A042-0A02E6BC4DF5}"/>
              </a:ext>
            </a:extLst>
          </p:cNvPr>
          <p:cNvSpPr/>
          <p:nvPr/>
        </p:nvSpPr>
        <p:spPr>
          <a:xfrm>
            <a:off x="142628" y="841131"/>
            <a:ext cx="2783451" cy="489464"/>
          </a:xfrm>
          <a:prstGeom prst="rect">
            <a:avLst/>
          </a:prstGeom>
          <a:solidFill>
            <a:srgbClr val="1A2140"/>
          </a:solidFill>
          <a:ln w="12700">
            <a:solidFill>
              <a:srgbClr val="2D3A55"/>
            </a:solidFill>
            <a:prstDash val="solid"/>
          </a:ln>
        </p:spPr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173E2A-87F2-CD33-5F12-0F6157E37AC2}"/>
              </a:ext>
            </a:extLst>
          </p:cNvPr>
          <p:cNvSpPr txBox="1"/>
          <p:nvPr/>
        </p:nvSpPr>
        <p:spPr>
          <a:xfrm>
            <a:off x="114103" y="889610"/>
            <a:ext cx="509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59E0B"/>
                </a:solidFill>
              </a:rPr>
              <a:t>▬</a:t>
            </a:r>
            <a:endParaRPr lang="en-US" dirty="0"/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C1830D-03C8-6043-5481-8EC6454A266B}"/>
              </a:ext>
            </a:extLst>
          </p:cNvPr>
          <p:cNvSpPr txBox="1"/>
          <p:nvPr/>
        </p:nvSpPr>
        <p:spPr>
          <a:xfrm>
            <a:off x="440527" y="807866"/>
            <a:ext cx="12540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FFFF"/>
                </a:solidFill>
              </a:rPr>
              <a:t>Histogram</a:t>
            </a:r>
            <a:endParaRPr lang="en-US" sz="1000" dirty="0"/>
          </a:p>
          <a:p>
            <a:endParaRPr lang="en-IN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E2B0F6-4FC7-6C54-B05A-EFECDF187475}"/>
              </a:ext>
            </a:extLst>
          </p:cNvPr>
          <p:cNvSpPr txBox="1"/>
          <p:nvPr/>
        </p:nvSpPr>
        <p:spPr>
          <a:xfrm>
            <a:off x="400918" y="1056896"/>
            <a:ext cx="2096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err="1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sns.histplot</a:t>
            </a: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 err="1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['Profit'])</a:t>
            </a:r>
            <a:endParaRPr lang="en-US" sz="900" dirty="0"/>
          </a:p>
          <a:p>
            <a:endParaRPr lang="en-IN" sz="9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8F2F0A-C252-A870-1D7C-9E9788CC5BCE}"/>
              </a:ext>
            </a:extLst>
          </p:cNvPr>
          <p:cNvSpPr/>
          <p:nvPr/>
        </p:nvSpPr>
        <p:spPr>
          <a:xfrm>
            <a:off x="3017754" y="826403"/>
            <a:ext cx="2711955" cy="489464"/>
          </a:xfrm>
          <a:prstGeom prst="rect">
            <a:avLst/>
          </a:prstGeom>
          <a:solidFill>
            <a:srgbClr val="1A2140"/>
          </a:solidFill>
          <a:ln w="12700">
            <a:solidFill>
              <a:srgbClr val="2D3A55"/>
            </a:solidFill>
            <a:prstDash val="solid"/>
          </a:ln>
        </p:spPr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666FD9-4472-3208-3D9C-A003D55FCDA5}"/>
              </a:ext>
            </a:extLst>
          </p:cNvPr>
          <p:cNvSpPr txBox="1"/>
          <p:nvPr/>
        </p:nvSpPr>
        <p:spPr>
          <a:xfrm>
            <a:off x="3250754" y="796750"/>
            <a:ext cx="1254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FFFF"/>
                </a:solidFill>
              </a:rPr>
              <a:t>Bar Chart</a:t>
            </a:r>
            <a:endParaRPr lang="en-US" sz="1000" dirty="0"/>
          </a:p>
          <a:p>
            <a:endParaRPr lang="en-US" sz="900" dirty="0"/>
          </a:p>
          <a:p>
            <a:endParaRPr lang="en-IN" sz="9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879575-0BC9-5992-1A93-76817E64F60F}"/>
              </a:ext>
            </a:extLst>
          </p:cNvPr>
          <p:cNvSpPr txBox="1"/>
          <p:nvPr/>
        </p:nvSpPr>
        <p:spPr>
          <a:xfrm>
            <a:off x="3191762" y="963189"/>
            <a:ext cx="257722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sns.barplot</a:t>
            </a: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(x='Region', y='Profit', data=</a:t>
            </a:r>
            <a:r>
              <a:rPr lang="en-US" sz="900" dirty="0" err="1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endParaRPr lang="en-IN" sz="9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3E57CF-46F9-4984-CF34-65A23B159798}"/>
              </a:ext>
            </a:extLst>
          </p:cNvPr>
          <p:cNvSpPr txBox="1"/>
          <p:nvPr/>
        </p:nvSpPr>
        <p:spPr>
          <a:xfrm>
            <a:off x="3002865" y="861827"/>
            <a:ext cx="276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59E0B"/>
                </a:solidFill>
              </a:rPr>
              <a:t>◔</a:t>
            </a:r>
            <a:endParaRPr lang="en-US" dirty="0"/>
          </a:p>
          <a:p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CD4711-D477-4A97-021F-9FA30B243C58}"/>
              </a:ext>
            </a:extLst>
          </p:cNvPr>
          <p:cNvSpPr/>
          <p:nvPr/>
        </p:nvSpPr>
        <p:spPr>
          <a:xfrm>
            <a:off x="5912422" y="841131"/>
            <a:ext cx="2577228" cy="489464"/>
          </a:xfrm>
          <a:prstGeom prst="rect">
            <a:avLst/>
          </a:prstGeom>
          <a:solidFill>
            <a:srgbClr val="1A2140"/>
          </a:solidFill>
          <a:ln w="12700">
            <a:solidFill>
              <a:srgbClr val="2D3A55"/>
            </a:solidFill>
            <a:prstDash val="solid"/>
          </a:ln>
        </p:spPr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24B439-F683-BA10-522A-F5A17BE5D107}"/>
              </a:ext>
            </a:extLst>
          </p:cNvPr>
          <p:cNvSpPr txBox="1"/>
          <p:nvPr/>
        </p:nvSpPr>
        <p:spPr>
          <a:xfrm>
            <a:off x="5803684" y="876967"/>
            <a:ext cx="465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59E0B"/>
                </a:solidFill>
              </a:rPr>
              <a:t>⊞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C48F75-8A7E-89EF-F3AE-55B9527DD55F}"/>
              </a:ext>
            </a:extLst>
          </p:cNvPr>
          <p:cNvSpPr txBox="1"/>
          <p:nvPr/>
        </p:nvSpPr>
        <p:spPr>
          <a:xfrm>
            <a:off x="6128052" y="801013"/>
            <a:ext cx="1154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FFFF"/>
                </a:solidFill>
              </a:rPr>
              <a:t>Joint</a:t>
            </a:r>
            <a:r>
              <a:rPr lang="en-US" sz="900" b="1" dirty="0">
                <a:solidFill>
                  <a:srgbClr val="FFFFFF"/>
                </a:solidFill>
              </a:rPr>
              <a:t> Plot</a:t>
            </a:r>
            <a:endParaRPr lang="en-US" sz="900" dirty="0"/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C98140-6F91-E569-4C38-1E6D0D15821F}"/>
              </a:ext>
            </a:extLst>
          </p:cNvPr>
          <p:cNvSpPr txBox="1"/>
          <p:nvPr/>
        </p:nvSpPr>
        <p:spPr>
          <a:xfrm>
            <a:off x="6128052" y="992383"/>
            <a:ext cx="236159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err="1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sns.jointplot</a:t>
            </a: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(x='</a:t>
            </a:r>
            <a:r>
              <a:rPr lang="en-US" sz="900" dirty="0" err="1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Profit',y</a:t>
            </a: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='Region', data=</a:t>
            </a:r>
            <a:r>
              <a:rPr lang="en-US" sz="900" dirty="0" err="1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endParaRPr lang="en-IN" sz="900" dirty="0"/>
          </a:p>
        </p:txBody>
      </p:sp>
      <p:sp>
        <p:nvSpPr>
          <p:cNvPr id="17" name="Shape 42">
            <a:extLst>
              <a:ext uri="{FF2B5EF4-FFF2-40B4-BE49-F238E27FC236}">
                <a16:creationId xmlns:a16="http://schemas.microsoft.com/office/drawing/2014/main" id="{B542FAC8-E741-ED01-1457-DF9A71128013}"/>
              </a:ext>
            </a:extLst>
          </p:cNvPr>
          <p:cNvSpPr/>
          <p:nvPr/>
        </p:nvSpPr>
        <p:spPr>
          <a:xfrm>
            <a:off x="199235" y="1658983"/>
            <a:ext cx="2726845" cy="2662938"/>
          </a:xfrm>
          <a:prstGeom prst="rect">
            <a:avLst/>
          </a:prstGeom>
          <a:solidFill>
            <a:srgbClr val="0F1629"/>
          </a:solidFill>
          <a:ln w="12700">
            <a:solidFill>
              <a:srgbClr val="2D3A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0">
            <a:extLst>
              <a:ext uri="{FF2B5EF4-FFF2-40B4-BE49-F238E27FC236}">
                <a16:creationId xmlns:a16="http://schemas.microsoft.com/office/drawing/2014/main" id="{BB573B8D-642A-3FAB-AD1F-30ED723A86FC}"/>
              </a:ext>
            </a:extLst>
          </p:cNvPr>
          <p:cNvSpPr/>
          <p:nvPr/>
        </p:nvSpPr>
        <p:spPr>
          <a:xfrm>
            <a:off x="0" y="0"/>
            <a:ext cx="9144000" cy="765555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7E189C-64A9-C787-5FB6-2E1DEDF16306}"/>
              </a:ext>
            </a:extLst>
          </p:cNvPr>
          <p:cNvSpPr txBox="1"/>
          <p:nvPr/>
        </p:nvSpPr>
        <p:spPr>
          <a:xfrm>
            <a:off x="-66213" y="102037"/>
            <a:ext cx="42484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09📈 Seborn Visualizations Created</a:t>
            </a:r>
            <a:endParaRPr lang="en-US" dirty="0">
              <a:solidFill>
                <a:schemeClr val="bg2"/>
              </a:solidFill>
            </a:endParaRPr>
          </a:p>
          <a:p>
            <a:endParaRPr lang="en-IN" dirty="0"/>
          </a:p>
        </p:txBody>
      </p:sp>
      <p:sp>
        <p:nvSpPr>
          <p:cNvPr id="21" name="Shape 42">
            <a:extLst>
              <a:ext uri="{FF2B5EF4-FFF2-40B4-BE49-F238E27FC236}">
                <a16:creationId xmlns:a16="http://schemas.microsoft.com/office/drawing/2014/main" id="{C07A9D3B-57B9-0080-0B4A-16D8DCE1B1BA}"/>
              </a:ext>
            </a:extLst>
          </p:cNvPr>
          <p:cNvSpPr/>
          <p:nvPr/>
        </p:nvSpPr>
        <p:spPr>
          <a:xfrm>
            <a:off x="3082495" y="1654159"/>
            <a:ext cx="2726845" cy="2662938"/>
          </a:xfrm>
          <a:prstGeom prst="rect">
            <a:avLst/>
          </a:prstGeom>
          <a:solidFill>
            <a:srgbClr val="0F1629"/>
          </a:solidFill>
          <a:ln w="12700">
            <a:solidFill>
              <a:srgbClr val="2D3A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42">
            <a:extLst>
              <a:ext uri="{FF2B5EF4-FFF2-40B4-BE49-F238E27FC236}">
                <a16:creationId xmlns:a16="http://schemas.microsoft.com/office/drawing/2014/main" id="{526D2712-3407-A36E-8F84-7C3AC31A3A68}"/>
              </a:ext>
            </a:extLst>
          </p:cNvPr>
          <p:cNvSpPr/>
          <p:nvPr/>
        </p:nvSpPr>
        <p:spPr>
          <a:xfrm>
            <a:off x="5948410" y="1646309"/>
            <a:ext cx="2726845" cy="2662938"/>
          </a:xfrm>
          <a:prstGeom prst="rect">
            <a:avLst/>
          </a:prstGeom>
          <a:solidFill>
            <a:srgbClr val="0F1629"/>
          </a:solidFill>
          <a:ln w="12700">
            <a:solidFill>
              <a:srgbClr val="2D3A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747CDAD-E832-722F-E94E-C245C9975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24" y="1669567"/>
            <a:ext cx="2818519" cy="263968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F5AD48C-BB33-D6D3-FB00-F99910D6B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971" y="1646309"/>
            <a:ext cx="2800820" cy="269617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AC288AF-2259-D19A-25C6-8A389A8008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2864" y="1649768"/>
            <a:ext cx="2800820" cy="267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992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Acquired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A8D4"/>
                </a:solidFill>
              </a:rPr>
              <a:t>What this notebook demonstrates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651760" cy="1691640"/>
          </a:xfrm>
          <a:prstGeom prst="rect">
            <a:avLst/>
          </a:prstGeom>
          <a:solidFill>
            <a:srgbClr val="1E2A4A"/>
          </a:solidFill>
          <a:ln w="19050">
            <a:solidFill>
              <a:srgbClr val="2D6A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2651760" cy="411480"/>
          </a:xfrm>
          <a:prstGeom prst="rect">
            <a:avLst/>
          </a:prstGeom>
          <a:solidFill>
            <a:srgbClr val="2D6AE0"/>
          </a:solidFill>
          <a:ln w="12700">
            <a:solidFill>
              <a:srgbClr val="2D6A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3502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🔵  Core Python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7556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AE0"/>
                </a:solidFill>
              </a:rPr>
              <a:t>✓  </a:t>
            </a:r>
            <a:r>
              <a:rPr lang="en-US" sz="1050" dirty="0">
                <a:solidFill>
                  <a:srgbClr val="CBD5E1"/>
                </a:solidFill>
              </a:rPr>
              <a:t>Data types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1214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AE0"/>
                </a:solidFill>
              </a:rPr>
              <a:t>✓  </a:t>
            </a:r>
            <a:r>
              <a:rPr lang="en-US" sz="1050" dirty="0">
                <a:solidFill>
                  <a:srgbClr val="CBD5E1"/>
                </a:solidFill>
              </a:rPr>
              <a:t>Variables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4871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AE0"/>
                </a:solidFill>
              </a:rPr>
              <a:t>✓  </a:t>
            </a:r>
            <a:r>
              <a:rPr lang="en-US" sz="1050" dirty="0">
                <a:solidFill>
                  <a:srgbClr val="CBD5E1"/>
                </a:solidFill>
              </a:rPr>
              <a:t>type() function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54680" y="1252728"/>
            <a:ext cx="2651760" cy="1691640"/>
          </a:xfrm>
          <a:prstGeom prst="rect">
            <a:avLst/>
          </a:prstGeom>
          <a:solidFill>
            <a:srgbClr val="1E2A4A"/>
          </a:solidFill>
          <a:ln w="1905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280160"/>
            <a:ext cx="2651760" cy="411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33502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🟣  Control Flow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17556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</a:rPr>
              <a:t>✓  </a:t>
            </a:r>
            <a:r>
              <a:rPr lang="en-US" sz="1050" dirty="0">
                <a:solidFill>
                  <a:srgbClr val="CBD5E1"/>
                </a:solidFill>
              </a:rPr>
              <a:t>if/elif/else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37560" y="21214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</a:rPr>
              <a:t>✓  </a:t>
            </a:r>
            <a:r>
              <a:rPr lang="en-US" sz="1050" dirty="0">
                <a:solidFill>
                  <a:srgbClr val="CBD5E1"/>
                </a:solidFill>
              </a:rPr>
              <a:t>Nested conditions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37560" y="24871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8B5CF6"/>
                </a:solidFill>
              </a:rPr>
              <a:t>✓  </a:t>
            </a:r>
            <a:r>
              <a:rPr lang="en-US" sz="1050" dirty="0">
                <a:solidFill>
                  <a:srgbClr val="CBD5E1"/>
                </a:solidFill>
              </a:rPr>
              <a:t>Grade &amp; </a:t>
            </a:r>
            <a:r>
              <a:rPr lang="en-US" sz="1000" dirty="0">
                <a:solidFill>
                  <a:srgbClr val="FFFFFF"/>
                </a:solidFill>
              </a:rPr>
              <a:t>Calculator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1280160"/>
            <a:ext cx="2651760" cy="1691640"/>
          </a:xfrm>
          <a:prstGeom prst="rect">
            <a:avLst/>
          </a:prstGeom>
          <a:solidFill>
            <a:srgbClr val="1E2A4A"/>
          </a:solidFill>
          <a:ln w="19050">
            <a:solidFill>
              <a:srgbClr val="0E74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280160"/>
            <a:ext cx="2651760" cy="4114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33502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🟦  While Loops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17556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490"/>
                </a:solidFill>
              </a:rPr>
              <a:t>✓  </a:t>
            </a:r>
            <a:r>
              <a:rPr lang="en-US" sz="1050" dirty="0">
                <a:solidFill>
                  <a:srgbClr val="CBD5E1"/>
                </a:solidFill>
              </a:rPr>
              <a:t>Counter loops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72200" y="21214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490"/>
                </a:solidFill>
              </a:rPr>
              <a:t>✓  </a:t>
            </a:r>
            <a:r>
              <a:rPr lang="en-US" sz="1050" dirty="0">
                <a:solidFill>
                  <a:srgbClr val="CBD5E1"/>
                </a:solidFill>
              </a:rPr>
              <a:t>Password guard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72200" y="24871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490"/>
                </a:solidFill>
              </a:rPr>
              <a:t>✓  </a:t>
            </a:r>
            <a:r>
              <a:rPr lang="en-US" sz="1050" dirty="0">
                <a:solidFill>
                  <a:srgbClr val="CBD5E1"/>
                </a:solidFill>
              </a:rPr>
              <a:t>Pyramid pattern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154680"/>
            <a:ext cx="2651760" cy="1691640"/>
          </a:xfrm>
          <a:prstGeom prst="rect">
            <a:avLst/>
          </a:prstGeom>
          <a:solidFill>
            <a:srgbClr val="1E2A4A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154680"/>
            <a:ext cx="2651760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2095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🟢  For Loops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36301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</a:rPr>
              <a:t>✓  </a:t>
            </a:r>
            <a:r>
              <a:rPr lang="en-US" sz="1050" dirty="0">
                <a:solidFill>
                  <a:srgbClr val="CBD5E1"/>
                </a:solidFill>
              </a:rPr>
              <a:t>range() iteration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39959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</a:rPr>
              <a:t>✓  </a:t>
            </a:r>
            <a:r>
              <a:rPr lang="en-US" sz="1050" dirty="0">
                <a:solidFill>
                  <a:srgbClr val="CBD5E1"/>
                </a:solidFill>
              </a:rPr>
              <a:t>continue &amp; break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436168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</a:rPr>
              <a:t>✓  </a:t>
            </a:r>
            <a:r>
              <a:rPr lang="en-US" sz="1050" dirty="0">
                <a:solidFill>
                  <a:srgbClr val="CBD5E1"/>
                </a:solidFill>
              </a:rPr>
              <a:t>Dict traversal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0" y="3154680"/>
            <a:ext cx="2651760" cy="1691640"/>
          </a:xfrm>
          <a:prstGeom prst="rect">
            <a:avLst/>
          </a:prstGeom>
          <a:solidFill>
            <a:srgbClr val="1E2A4A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3154680"/>
            <a:ext cx="265176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32095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🟠  Lists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37560" y="36301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✓  </a:t>
            </a:r>
            <a:r>
              <a:rPr lang="en-US" sz="1050" dirty="0">
                <a:solidFill>
                  <a:srgbClr val="CBD5E1"/>
                </a:solidFill>
              </a:rPr>
              <a:t>CRUD operations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337560" y="39959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✓  </a:t>
            </a:r>
            <a:r>
              <a:rPr lang="en-US" sz="1050" dirty="0">
                <a:solidFill>
                  <a:srgbClr val="CBD5E1"/>
                </a:solidFill>
              </a:rPr>
              <a:t>Sorting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337560" y="436168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✓  </a:t>
            </a:r>
            <a:r>
              <a:rPr lang="en-US" sz="1050" dirty="0">
                <a:solidFill>
                  <a:srgbClr val="CBD5E1"/>
                </a:solidFill>
              </a:rPr>
              <a:t>Aggregations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035040" y="3154680"/>
            <a:ext cx="2651760" cy="1691640"/>
          </a:xfrm>
          <a:prstGeom prst="rect">
            <a:avLst/>
          </a:prstGeom>
          <a:solidFill>
            <a:srgbClr val="1E2A4A"/>
          </a:solidFill>
          <a:ln w="1905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35040" y="3154680"/>
            <a:ext cx="2651760" cy="41148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32095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🔴  Data Analysis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72200" y="36301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53E3E"/>
                </a:solidFill>
              </a:rPr>
              <a:t>✓  </a:t>
            </a:r>
            <a:r>
              <a:rPr lang="en-US" sz="1050" dirty="0">
                <a:solidFill>
                  <a:srgbClr val="CBD5E1"/>
                </a:solidFill>
              </a:rPr>
              <a:t>Pandas DataFrames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172200" y="39959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53E3E"/>
                </a:solidFill>
              </a:rPr>
              <a:t>✓  </a:t>
            </a:r>
            <a:r>
              <a:rPr lang="en-US" sz="1050" dirty="0">
                <a:solidFill>
                  <a:srgbClr val="CBD5E1"/>
                </a:solidFill>
              </a:rPr>
              <a:t>EDA operations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172200" y="436168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53E3E"/>
                </a:solidFill>
              </a:rPr>
              <a:t>✓  </a:t>
            </a:r>
            <a:r>
              <a:rPr lang="en-US" sz="1050" dirty="0">
                <a:solidFill>
                  <a:srgbClr val="CBD5E1"/>
                </a:solidFill>
              </a:rPr>
              <a:t>Seaborn charts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6AE0"/>
          </a:solidFill>
          <a:ln w="12700">
            <a:solidFill>
              <a:srgbClr val="2D6A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🚀  Next Steps: Pandas Data Cleaning → EDA → Matplotlib → Seaborn → Plotly → Streamlit Dashboard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1429</Words>
  <Application>Microsoft Office PowerPoint</Application>
  <PresentationFormat>On-screen Show (16:9)</PresentationFormat>
  <Paragraphs>257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Learning Portfolio</dc:title>
  <dc:subject>PptxGenJS Presentation</dc:subject>
  <dc:creator>Harsh</dc:creator>
  <cp:lastModifiedBy>917827496296</cp:lastModifiedBy>
  <cp:revision>7</cp:revision>
  <dcterms:created xsi:type="dcterms:W3CDTF">2026-06-05T10:46:26Z</dcterms:created>
  <dcterms:modified xsi:type="dcterms:W3CDTF">2026-06-25T07:02:57Z</dcterms:modified>
</cp:coreProperties>
</file>